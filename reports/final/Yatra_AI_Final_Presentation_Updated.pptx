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committee members. Today I am presenting Yātrā AI, an intelligent multi-modal travel recommendation framework specifically engineered for the Indian transit ecosystem. This project addresses the lack of personalized multi-modal trip planning in India by coupling grounded public transport infrastructure with an axiomatic Multinomial Logit discrete choice simulation across 5,000 travellers and 138,603 candidate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real-world motivation. India has immense transit supply, but consumers face a high cognitive burden. A 1,740 km trip between Delhi and Bengaluru presents wildly divergent options: a 3-hour flight for 5,500 rupees versus a 32-hour train for 850 rupees. Existing travel websites treat all users identically. Yātrā AI is built to automate multi-attribute trade-offs tailored to each traveller's latent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Yātrā AI operates in three interconnected tiers: first, a multimodal knowledge graph that bridges rail and flight schedules into unified metro corridors; second, a 7-dimensional continuous psychometric vector called Travel DNA that models user sensitivity; and third, a machine learning recommendation filter that scores candidates and surfaces the best itineraries.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vital to emphasize our Hybrid Data Strategy. Because commercial booking logs across Indian Railways and airlines are private, we ground all physical supply—stations, trains, flights, delay distributions, and rainfall—in real public data. We also explicitly audit feature provenance: observed, derived tariffs, simulation proxies, and synthetic demand. We never invent joins merely to force datasets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model demand choices, we utilize the Nobel Prize-winning Multinomial Logit formulation from econometric choice theory. Systematic utility is a bilinear product of continuous Travel DNA sensitivities and normalized candidate quality scores. Crucially, our synthetic population passed 5 rigorous validation suites, verifying structural integrity, mathematical axioms to double machine epsilon, and behavioral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observe the exploratory data analysis. The target variable exhibits a natural 2.465 to 1 class imbalance because exactly one option is chosen among 2 to 5 candidates per session. Notice also that modal share is well-balanced: 52% rail and 48% flight. Furthermore, we clarify that while individual persona dimensions are sampled independently, aggregate correlations like negative cost-time sensitivity reflect the mixture of diverse traveller archetypes.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training, we conducted a rigorous leakage audit. We strictly excluded all post-choice simulation outputs like utility, rank, and choice probability. Furthermore, we verified that normalized candidate scores are strictly pre-choice attributes computed before any choice occurs. We also enforced a strict traveller-level split to prevent identity leakage.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evaluated four distinct model families representing linear, single-tree, bagging, and boosting paradigms. This provided a rigorous benchmark across inductive biases, allowing us to evaluate whether non-linear interactions are necessary and how regularized boosting compares to bagging in controlling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yielded three critical scientific insights: First, tree models substantially outperformed logistic regression because choice utility is inherently interactive. Second, adding categorical persona type provided zero incremental value, proving that continuous Travel DNA is the superior representation. Third, candidate quality scores out-predicted raw attributes by 2.3 times, proving that choice depends on relative within-session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2, we addressed the positive recall deficit. At default 0.50 threshold, models missed 76% of chosen journeys. By optimizing the threshold strictly on validation data to 0.30, Test Recall surged from 23.8% to 62.7%, and F1 jumped from 0.3366 to 0.5116. We slashed false negatives by more than half, capturing 2,330 additional preferred journeys.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maintain full transparency regarding limitations. The choice labels are synthetic, flight delay values are proxies, and our binary model evaluates alternatives independently rather than enforcing the one-choice-per-session constraint. This lays out an exciting roadmap: transitioning to Learning-to-Rank with LambdaMART and connecting live IRCTC and airline APIs.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Yātrā AI establishes a principled, reproducible benchmark for multi-modal travel recommendation in India. We demonstrated that relative candidate scoring and continuous Travel DNA combined with gradient boosting provide the strongest architecture for discrete choice recovery.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37160" cy="4114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10058400" cy="2011680"/>
          </a:xfrm>
          <a:prstGeom prst="rect">
            <a:avLst/>
          </a:prstGeom>
          <a:noFill/>
        </p:spPr>
        <p:txBody>
          <a:bodyPr wrap="square">
            <a:spAutoFit/>
          </a:bodyPr>
          <a:lstStyle/>
          <a:p>
            <a:pPr>
              <a:defRPr sz="4000" b="1">
                <a:solidFill>
                  <a:srgbClr val="FFFFFF"/>
                </a:solidFill>
              </a:defRPr>
            </a:pPr>
            <a:r>
              <a:t>YĀTRĀ AI (यात्रा AI)</a:t>
            </a:r>
          </a:p>
          <a:p>
            <a:pPr>
              <a:defRPr sz="2200" b="1">
                <a:solidFill>
                  <a:srgbClr val="D97706"/>
                </a:solidFill>
              </a:defRPr>
            </a:pPr>
            <a:r>
              <a:t>A Personalized Multi-Modal Travel Recommendation Engine for India</a:t>
            </a:r>
          </a:p>
          <a:p>
            <a:pPr>
              <a:defRPr sz="1400">
                <a:solidFill>
                  <a:srgbClr val="CBD5E1"/>
                </a:solidFill>
              </a:defRPr>
            </a:pPr>
            <a:r>
              <a:t>Discrete Choice Recovery using Grounded Public Infrastructure &amp; Calibrated Synthetic Behaviour</a:t>
            </a:r>
          </a:p>
        </p:txBody>
      </p:sp>
      <p:sp>
        <p:nvSpPr>
          <p:cNvPr id="5" name="Rounded Rectangle 4"/>
          <p:cNvSpPr/>
          <p:nvPr/>
        </p:nvSpPr>
        <p:spPr>
          <a:xfrm>
            <a:off x="1188720" y="3840480"/>
            <a:ext cx="9875520" cy="1645920"/>
          </a:xfrm>
          <a:prstGeom prst="roundRect">
            <a:avLst/>
          </a:prstGeom>
          <a:solidFill>
            <a:srgbClr val="14264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977640"/>
            <a:ext cx="9509760" cy="1371600"/>
          </a:xfrm>
          <a:prstGeom prst="rect">
            <a:avLst/>
          </a:prstGeom>
          <a:noFill/>
        </p:spPr>
        <p:txBody>
          <a:bodyPr wrap="square">
            <a:spAutoFit/>
          </a:bodyPr>
          <a:lstStyle/>
          <a:p>
            <a:pPr>
              <a:defRPr sz="1100" b="1">
                <a:solidFill>
                  <a:srgbClr val="D97706"/>
                </a:solidFill>
              </a:defRPr>
            </a:pPr>
            <a:r>
              <a:t>RESEARCH &amp; TECHNICAL SPECIFICATIONS</a:t>
            </a:r>
          </a:p>
          <a:p>
            <a:pPr>
              <a:defRPr sz="1200">
                <a:solidFill>
                  <a:srgbClr val="FFFFFF"/>
                </a:solidFill>
              </a:defRPr>
            </a:pPr>
            <a:r>
              <a:t>• Core Dataset: 5,000 Synthetic Travellers | 40,000 Search Sessions | 138,603 Itinerary Candidate Rows</a:t>
            </a:r>
            <a:br/>
            <a:r>
              <a:t>• Grounded Data: 8,400+ Railway Stations | 11,100+ Scheduled Trains | 300,000+ Flight Records | IMD Rainfall</a:t>
            </a:r>
            <a:br/>
            <a:r>
              <a:t>• Evaluation: Strict 70/15/15 Traveller-Level Split | Pre-Training Leakage Audit | Deterministic Seed 42</a:t>
            </a:r>
            <a:br/>
            <a:r>
              <a:t>• Final Champion Model: Gradient Boosting Core (GB_core) @ Decision Threshold τ* = 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The Problem: Fragmented Transit &amp; Multi-Attribute Trade-offs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The Indian Transit Dilemma</a:t>
            </a:r>
          </a:p>
        </p:txBody>
      </p:sp>
      <p:sp>
        <p:nvSpPr>
          <p:cNvPr id="7" name="TextBox 6"/>
          <p:cNvSpPr txBox="1"/>
          <p:nvPr/>
        </p:nvSpPr>
        <p:spPr>
          <a:xfrm>
            <a:off x="914400" y="2011680"/>
            <a:ext cx="4754880" cy="4023360"/>
          </a:xfrm>
          <a:prstGeom prst="rect">
            <a:avLst/>
          </a:prstGeom>
          <a:noFill/>
        </p:spPr>
        <p:txBody>
          <a:bodyPr wrap="square">
            <a:spAutoFit/>
          </a:bodyPr>
          <a:lstStyle/>
          <a:p>
            <a:pPr>
              <a:defRPr b="1" sz="1300">
                <a:solidFill>
                  <a:srgbClr val="0F1E3C"/>
                </a:solidFill>
              </a:defRPr>
            </a:pPr>
            <a:r>
              <a:t>1. Siloed Digital Platforms:</a:t>
            </a:r>
          </a:p>
          <a:p>
            <a:pPr>
              <a:defRPr sz="1100">
                <a:solidFill>
                  <a:srgbClr val="1E293B"/>
                </a:solidFill>
              </a:defRPr>
            </a:pPr>
            <a:r>
              <a:t>Indian Railways (IRCTC) and domestic commercial airlines operate on disconnected booking portals. Travellers must cross-reference schedules manually across browser tabs.</a:t>
            </a:r>
          </a:p>
          <a:p>
            <a:pPr>
              <a:defRPr b="1" sz="1300">
                <a:solidFill>
                  <a:srgbClr val="0F1E3C"/>
                </a:solidFill>
              </a:defRPr>
            </a:pPr>
            <a:r>
              <a:t>2. Hidden Door-to-Door Friction:</a:t>
            </a:r>
          </a:p>
          <a:p>
            <a:pPr>
              <a:defRPr sz="1100">
                <a:solidFill>
                  <a:srgbClr val="1E293B"/>
                </a:solidFill>
              </a:defRPr>
            </a:pPr>
            <a:r>
              <a:t>Commercial OTAs sort by flight airtime or train schedule, ignoring check-in buffers, terminal airport transfers, and intermediate railway layovers.</a:t>
            </a:r>
          </a:p>
          <a:p>
            <a:pPr>
              <a:defRPr b="1" sz="1300">
                <a:solidFill>
                  <a:srgbClr val="0F1E3C"/>
                </a:solidFill>
              </a:defRPr>
            </a:pPr>
            <a:r>
              <a:t>3. Zero Personalization:</a:t>
            </a:r>
          </a:p>
          <a:p>
            <a:pPr>
              <a:defRPr sz="1100">
                <a:solidFill>
                  <a:srgbClr val="1E293B"/>
                </a:solidFill>
              </a:defRPr>
            </a:pPr>
            <a:r>
              <a:t>Existing engines cannot evaluate multidimensional trade-offs across cost, transit speed, operational delay risk, cabin comfort, and carbon emissions.</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Contrasting Traveller Trade-offs</a:t>
            </a:r>
          </a:p>
        </p:txBody>
      </p:sp>
      <p:sp>
        <p:nvSpPr>
          <p:cNvPr id="10" name="TextBox 9"/>
          <p:cNvSpPr txBox="1"/>
          <p:nvPr/>
        </p:nvSpPr>
        <p:spPr>
          <a:xfrm>
            <a:off x="6400800" y="2011680"/>
            <a:ext cx="4846320" cy="4023360"/>
          </a:xfrm>
          <a:prstGeom prst="rect">
            <a:avLst/>
          </a:prstGeom>
          <a:noFill/>
        </p:spPr>
        <p:txBody>
          <a:bodyPr wrap="square">
            <a:spAutoFit/>
          </a:bodyPr>
          <a:lstStyle/>
          <a:p>
            <a:pPr>
              <a:defRPr b="1" sz="1300">
                <a:solidFill>
                  <a:srgbClr val="D97706"/>
                </a:solidFill>
              </a:defRPr>
            </a:pPr>
            <a:r>
              <a:t>Scenario: Delhi to Bengaluru Corridor (1,740 km)</a:t>
            </a:r>
          </a:p>
          <a:p>
            <a:br/>
            <a:pPr>
              <a:defRPr b="1" sz="1200">
                <a:solidFill>
                  <a:srgbClr val="0F1E3C"/>
                </a:solidFill>
              </a:defRPr>
            </a:pPr>
            <a:r>
              <a:t>• Executive Business Traveller:</a:t>
            </a:r>
          </a:p>
          <a:p>
            <a:pPr>
              <a:defRPr sz="1100">
                <a:solidFill>
                  <a:srgbClr val="1E293B"/>
                </a:solidFill>
              </a:defRPr>
            </a:pPr>
            <a:r>
              <a:t>  - Values: High punctuality, minimal door-to-door transit time.</a:t>
            </a:r>
            <a:br/>
            <a:r>
              <a:t>  - Choice: Non-stop 2.8h flight (₹5,500). Price inelastic.</a:t>
            </a:r>
            <a:br/>
            <a:r>
              <a:t>  - Priority: Time &amp; Reliability &gt; Cost.</a:t>
            </a:r>
          </a:p>
          <a:p>
            <a:br/>
            <a:pPr>
              <a:defRPr b="1" sz="1200">
                <a:solidFill>
                  <a:srgbClr val="0F1E3C"/>
                </a:solidFill>
              </a:defRPr>
            </a:pPr>
            <a:r>
              <a:t>• Budget-Conscious Student / Family:</a:t>
            </a:r>
          </a:p>
          <a:p>
            <a:pPr>
              <a:defRPr sz="1100">
                <a:solidFill>
                  <a:srgbClr val="1E293B"/>
                </a:solidFill>
              </a:defRPr>
            </a:pPr>
            <a:r>
              <a:t>  - Values: Ticket affordability, sleeping berths, zero transfer penalty.</a:t>
            </a:r>
            <a:br/>
            <a:r>
              <a:t>  - Choice: Rajdhani Express or Sleeper Rail (₹850–₹2,200, 32h).</a:t>
            </a:r>
            <a:br/>
            <a:r>
              <a:t>  - Priority: Cost &amp; Comfort &gt; Duration.</a:t>
            </a:r>
          </a:p>
          <a:p>
            <a:br/>
            <a:pPr>
              <a:defRPr i="1" sz="1100">
                <a:solidFill>
                  <a:srgbClr val="0D9488"/>
                </a:solidFill>
              </a:defRPr>
            </a:pPr>
            <a:r>
              <a:t>Core Challenge: How can an ML recommendation system automatically infer and satisfy these divergent trade-offs?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The Yātrā AI Solution &amp; Architectural Concept</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3017520" cy="365760"/>
          </a:xfrm>
          <a:prstGeom prst="rect">
            <a:avLst/>
          </a:prstGeom>
          <a:noFill/>
        </p:spPr>
        <p:txBody>
          <a:bodyPr wrap="none">
            <a:spAutoFit/>
          </a:bodyPr>
          <a:lstStyle/>
          <a:p>
            <a:pPr>
              <a:defRPr sz="1300" b="1">
                <a:solidFill>
                  <a:srgbClr val="0F1E3C"/>
                </a:solidFill>
              </a:defRPr>
            </a:pPr>
            <a:r>
              <a:t>1. Transit Knowledge Graph</a:t>
            </a:r>
          </a:p>
        </p:txBody>
      </p:sp>
      <p:sp>
        <p:nvSpPr>
          <p:cNvPr id="7" name="TextBox 6"/>
          <p:cNvSpPr txBox="1"/>
          <p:nvPr/>
        </p:nvSpPr>
        <p:spPr>
          <a:xfrm>
            <a:off x="868680" y="2011680"/>
            <a:ext cx="3017520" cy="4023360"/>
          </a:xfrm>
          <a:prstGeom prst="rect">
            <a:avLst/>
          </a:prstGeom>
          <a:noFill/>
        </p:spPr>
        <p:txBody>
          <a:bodyPr wrap="square">
            <a:spAutoFit/>
          </a:bodyPr>
          <a:lstStyle/>
          <a:p>
            <a:pPr>
              <a:defRPr sz="1100">
                <a:solidFill>
                  <a:srgbClr val="1E293B"/>
                </a:solidFill>
              </a:defRPr>
            </a:pPr>
            <a:r>
              <a:t>Multi-Modal Graph Engine</a:t>
            </a:r>
            <a:br/>
            <a:r>
              <a:t>• Ingests 8,400+ rail stations and major metro airports.</a:t>
            </a:r>
            <a:br/>
            <a:r>
              <a:t>• Resolves stations into unified Metropolitan Transit Zones (e.g. NDLS/NZM/DEL -&gt; Delhi NCR).</a:t>
            </a:r>
            <a:br/>
            <a:r>
              <a:t>• Computes realistic door-to-door duration including check-in, ground transfer, and buffer times.</a:t>
            </a:r>
            <a:br/>
            <a:r>
              <a:t>• Integrates historical rail punctuality and IMD climate rainfall.</a:t>
            </a:r>
          </a:p>
        </p:txBody>
      </p:sp>
      <p:sp>
        <p:nvSpPr>
          <p:cNvPr id="8" name="Rounded Rectangle 7"/>
          <p:cNvSpPr/>
          <p:nvPr/>
        </p:nvSpPr>
        <p:spPr>
          <a:xfrm>
            <a:off x="43891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00200"/>
            <a:ext cx="3017520" cy="365760"/>
          </a:xfrm>
          <a:prstGeom prst="rect">
            <a:avLst/>
          </a:prstGeom>
          <a:noFill/>
        </p:spPr>
        <p:txBody>
          <a:bodyPr wrap="none">
            <a:spAutoFit/>
          </a:bodyPr>
          <a:lstStyle/>
          <a:p>
            <a:pPr>
              <a:defRPr sz="1300" b="1">
                <a:solidFill>
                  <a:srgbClr val="0F1E3C"/>
                </a:solidFill>
              </a:defRPr>
            </a:pPr>
            <a:r>
              <a:t>2. Travel DNA Layer</a:t>
            </a:r>
          </a:p>
        </p:txBody>
      </p:sp>
      <p:sp>
        <p:nvSpPr>
          <p:cNvPr id="10" name="TextBox 9"/>
          <p:cNvSpPr txBox="1"/>
          <p:nvPr/>
        </p:nvSpPr>
        <p:spPr>
          <a:xfrm>
            <a:off x="4526280" y="2011680"/>
            <a:ext cx="3017520" cy="4023360"/>
          </a:xfrm>
          <a:prstGeom prst="rect">
            <a:avLst/>
          </a:prstGeom>
          <a:noFill/>
        </p:spPr>
        <p:txBody>
          <a:bodyPr wrap="square">
            <a:spAutoFit/>
          </a:bodyPr>
          <a:lstStyle/>
          <a:p>
            <a:pPr>
              <a:defRPr sz="1100">
                <a:solidFill>
                  <a:srgbClr val="1E293B"/>
                </a:solidFill>
              </a:defRPr>
            </a:pPr>
            <a:r>
              <a:t>Psychometric Modeling</a:t>
            </a:r>
            <a:br/>
            <a:r>
              <a:t>• 7-Dimensional continuous preference representation:</a:t>
            </a:r>
            <a:br/>
            <a:r>
              <a:t>  1. Cost Sensitivity</a:t>
            </a:r>
            <a:br/>
            <a:r>
              <a:t>  2. Time Sensitivity</a:t>
            </a:r>
            <a:br/>
            <a:r>
              <a:t>  3. Reliability Sensitivity</a:t>
            </a:r>
            <a:br/>
            <a:r>
              <a:t>  4. Comfort Preference</a:t>
            </a:r>
            <a:br/>
            <a:r>
              <a:t>  5. Transfer Tolerance</a:t>
            </a:r>
            <a:br/>
            <a:r>
              <a:t>  6. Departure Time Flexibility</a:t>
            </a:r>
            <a:br/>
            <a:r>
              <a:t>  7. Sustainability Preference</a:t>
            </a:r>
            <a:br/>
            <a:r>
              <a:t>• Continuous coordinate space replaces rigid demographic buckets.</a:t>
            </a:r>
          </a:p>
        </p:txBody>
      </p:sp>
      <p:sp>
        <p:nvSpPr>
          <p:cNvPr id="11" name="Rounded Rectangle 10"/>
          <p:cNvSpPr/>
          <p:nvPr/>
        </p:nvSpPr>
        <p:spPr>
          <a:xfrm>
            <a:off x="80467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600200"/>
            <a:ext cx="3017520" cy="365760"/>
          </a:xfrm>
          <a:prstGeom prst="rect">
            <a:avLst/>
          </a:prstGeom>
          <a:noFill/>
        </p:spPr>
        <p:txBody>
          <a:bodyPr wrap="none">
            <a:spAutoFit/>
          </a:bodyPr>
          <a:lstStyle/>
          <a:p>
            <a:pPr>
              <a:defRPr sz="1300" b="1">
                <a:solidFill>
                  <a:srgbClr val="0F1E3C"/>
                </a:solidFill>
              </a:defRPr>
            </a:pPr>
            <a:r>
              <a:t>3. ML Recommendation Filter</a:t>
            </a:r>
          </a:p>
        </p:txBody>
      </p:sp>
      <p:sp>
        <p:nvSpPr>
          <p:cNvPr id="13" name="TextBox 12"/>
          <p:cNvSpPr txBox="1"/>
          <p:nvPr/>
        </p:nvSpPr>
        <p:spPr>
          <a:xfrm>
            <a:off x="8183880" y="2011680"/>
            <a:ext cx="3017520" cy="4023360"/>
          </a:xfrm>
          <a:prstGeom prst="rect">
            <a:avLst/>
          </a:prstGeom>
          <a:noFill/>
        </p:spPr>
        <p:txBody>
          <a:bodyPr wrap="square">
            <a:spAutoFit/>
          </a:bodyPr>
          <a:lstStyle/>
          <a:p>
            <a:pPr>
              <a:defRPr sz="1100">
                <a:solidFill>
                  <a:srgbClr val="1E293B"/>
                </a:solidFill>
              </a:defRPr>
            </a:pPr>
            <a:r>
              <a:t>Pointwise Scoring &amp; Filter</a:t>
            </a:r>
            <a:br/>
            <a:r>
              <a:t>• Evaluates candidate itineraries generated by routing graph.</a:t>
            </a:r>
            <a:br/>
            <a:r>
              <a:t>• Derives relative choice-set quality scores normalized per session.</a:t>
            </a:r>
            <a:br/>
            <a:r>
              <a:t>• Predicts alternative selection probability: P(chosen = 1 | X).</a:t>
            </a:r>
            <a:br/>
            <a:r>
              <a:t>• Calibrated decision threshold (τ* = 0.30) balances precision and recall.</a:t>
            </a:r>
            <a:br/>
            <a:r>
              <a:t>• Surfaces curated 'Recommended For You' carousel to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Data Architecture: The Hybrid Data Strategy</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Grounded Public Transit Data (100% Real)</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Authentic Supply Infrastructure:</a:t>
            </a:r>
            <a:br/>
            <a:r>
              <a:t>• 8,400+ Railway Stations (Ministry of Railways / OGD India):</a:t>
            </a:r>
            <a:br/>
            <a:r>
              <a:t>  Latitude, longitude, state, zone, station codes.</a:t>
            </a:r>
            <a:br/>
            <a:br/>
            <a:r>
              <a:t>• 11,100+ Train Timetables (IRCTC / CRIS):</a:t>
            </a:r>
            <a:br/>
            <a:r>
              <a:t>  Schedules, intermediate halts, train types (Rajdhani, Shatabdi, Mail).</a:t>
            </a:r>
            <a:br/>
            <a:br/>
            <a:r>
              <a:t>• 300,000+ Domestic Flight Itineraries (Kaggle / OTA records):</a:t>
            </a:r>
            <a:br/>
            <a:r>
              <a:t>  Air carriers (IndiGo, Air India, etc.), departure windows, fare classes.</a:t>
            </a:r>
            <a:br/>
            <a:br/>
            <a:r>
              <a:t>• Historical Railway Delay Statistics:</a:t>
            </a:r>
            <a:br/>
            <a:r>
              <a:t>  Punctuality baselines aggregated by service class.</a:t>
            </a:r>
            <a:br/>
            <a:br/>
            <a:r>
              <a:t>• IMD High-Resolution Climate Rainfall:</a:t>
            </a:r>
            <a:br/>
            <a:r>
              <a:t>  Gridded monthly precipitation archives for weather disruption risk.</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Canonical Join &amp; Provenance Classification</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Strict Join Strategy (Zero Fabricated Links):</a:t>
            </a:r>
            <a:br/>
            <a:r>
              <a:t>• Station-to-Metro Aggregation: Haversine distance clustering (threshold &lt;= 45 km) links individual stations (NDLS, NZM) and airport (DEL) to unified metro hubs.</a:t>
            </a:r>
            <a:br/>
            <a:r>
              <a:t>• Regional Climate Linking: Rainfall joined strictly at state/meteorological sub-division level, avoiding invalid station-level micro-joins.</a:t>
            </a:r>
            <a:br/>
            <a:br/>
            <a:r>
              <a:t>Explicit Feature Provenance Tiers:</a:t>
            </a:r>
            <a:br/>
            <a:r>
              <a:t>• OBSERVED: Station GPS, flight fares, train timetables.</a:t>
            </a:r>
            <a:br/>
            <a:r>
              <a:t>• DERIVED: Door-to-door transit duration, IRCA distance-based rail tariffs, carbon emission estimates (DGCA/CEA factors).</a:t>
            </a:r>
            <a:br/>
            <a:r>
              <a:t>• SIMULATION PROXIES: Punctuality baselines, cabin comfort scores.</a:t>
            </a:r>
            <a:br/>
            <a:r>
              <a:t>• SYNTHETIC: Traveller profiles, search sessions, choice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Synthetic Methodology: Axiomatic Multinomial Logit</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Random Utility Maximization (RUM)</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1. Systematic Bilinear Utility:</a:t>
            </a:r>
            <a:br/>
            <a:r>
              <a:t>   V_ni = Σ β_k · DNA_nk · Score_nik</a:t>
            </a:r>
            <a:br/>
            <a:r>
              <a:t>   Captures interactive valuation (e.g. cost sensitivity × relative fare score).</a:t>
            </a:r>
            <a:br/>
            <a:br/>
            <a:r>
              <a:t>2. Gumbel Error Disturbance:</a:t>
            </a:r>
            <a:br/>
            <a:r>
              <a:t>   U_ni = V_ni + ε_ni,  where ε_ni ~ Gumbel(0, 1)</a:t>
            </a:r>
            <a:br/>
            <a:br/>
            <a:r>
              <a:t>3. Multinomial Logit Closed-Form Choice:</a:t>
            </a:r>
            <a:br/>
            <a:r>
              <a:t>   P_ni = exp(V_ni) / Σ_j exp(V_nj)</a:t>
            </a:r>
            <a:br/>
            <a:br/>
            <a:r>
              <a:t>4. Discrete Choice Sampling:</a:t>
            </a:r>
            <a:br/>
            <a:r>
              <a:t>   chosen_ni = 1 if alternative i maximizes U_ni within session.</a:t>
            </a:r>
            <a:br/>
            <a:br/>
            <a:r>
              <a:t>Automated Validation Suite (5/5 Passed):</a:t>
            </a:r>
            <a:br/>
            <a:r>
              <a:t>• Structural: 0 nulls, exact 138,603 rows.</a:t>
            </a:r>
            <a:br/>
            <a:r>
              <a:t>• Statistical: Empirical vs theoretical mean delta &lt;= 0.0102.</a:t>
            </a:r>
            <a:br/>
            <a:r>
              <a:t>• Axiomatic: Choice sum = 1.0 to machine epsilon (3.33e-16).</a:t>
            </a:r>
            <a:br/>
            <a:r>
              <a:t>• Behavioral: 6/6 sensitivity interventions passed.</a:t>
            </a:r>
            <a:br/>
            <a:r>
              <a:t>• Reproducibility: Seed 42 bitwise identical.</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Travel DNA Distributions by Persona Archetype</a:t>
            </a:r>
          </a:p>
        </p:txBody>
      </p:sp>
      <p:pic>
        <p:nvPicPr>
          <p:cNvPr id="10" name="Picture 9" descr="travel_dna_boxplots_by_persona.png"/>
          <p:cNvPicPr>
            <a:picLocks noChangeAspect="1"/>
          </p:cNvPicPr>
          <p:nvPr/>
        </p:nvPicPr>
        <p:blipFill>
          <a:blip r:embed="rId2"/>
          <a:stretch>
            <a:fillRect/>
          </a:stretch>
        </p:blipFill>
        <p:spPr>
          <a:xfrm>
            <a:off x="6217920" y="2011680"/>
            <a:ext cx="5029200" cy="359228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Exploratory Data Analysis &amp; Behavioural Patterns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Key Dataset Distributions</a:t>
            </a:r>
          </a:p>
        </p:txBody>
      </p:sp>
      <p:sp>
        <p:nvSpPr>
          <p:cNvPr id="7" name="TextBox 6"/>
          <p:cNvSpPr txBox="1"/>
          <p:nvPr/>
        </p:nvSpPr>
        <p:spPr>
          <a:xfrm>
            <a:off x="914400" y="2011680"/>
            <a:ext cx="4572000" cy="4023360"/>
          </a:xfrm>
          <a:prstGeom prst="rect">
            <a:avLst/>
          </a:prstGeom>
          <a:noFill/>
        </p:spPr>
        <p:txBody>
          <a:bodyPr wrap="square">
            <a:spAutoFit/>
          </a:bodyPr>
          <a:lstStyle/>
          <a:p>
            <a:pPr>
              <a:defRPr sz="1100">
                <a:solidFill>
                  <a:srgbClr val="1E293B"/>
                </a:solidFill>
              </a:defRPr>
            </a:pPr>
            <a:r>
              <a:t>A. Class Distribution (Natural Imbalance):</a:t>
            </a:r>
            <a:br/>
            <a:r>
              <a:t>• Class 0 (Not Chosen): 98,603 (71.14%)</a:t>
            </a:r>
            <a:br/>
            <a:r>
              <a:t>• Class 1 (Chosen):     40,000 (28.86%)</a:t>
            </a:r>
            <a:br/>
            <a:r>
              <a:t>• Natural Imbalance Ratio: 2.465 : 1</a:t>
            </a:r>
            <a:br/>
            <a:r>
              <a:t>• Structural origin: Exactly 1 chosen among 2 to 5 candidate alternatives per session (mean = 3.465).</a:t>
            </a:r>
            <a:br/>
            <a:br/>
            <a:r>
              <a:t>B. Modal Choice Share:</a:t>
            </a:r>
            <a:br/>
            <a:r>
              <a:t>• Heavy Rail Choices: 20,884 (52.21%)</a:t>
            </a:r>
            <a:br/>
            <a:r>
              <a:t>• Domestic Aviation: 19,116 (47.79%)</a:t>
            </a:r>
            <a:br/>
            <a:br/>
            <a:r>
              <a:t>C. Correlation Structure Clarification:</a:t>
            </a:r>
            <a:br/>
            <a:r>
              <a:t>• Intra-persona dimensions were sampled independently (|r| &lt;= 0.089).</a:t>
            </a:r>
            <a:br/>
            <a:r>
              <a:t>• Moderate aggregate correlation (Cost vs Time = -0.63) arises naturally from the mixture of persona-conditioned priors.</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Travel DNA Correlation Matrix (Population Mixture)</a:t>
            </a:r>
          </a:p>
        </p:txBody>
      </p:sp>
      <p:pic>
        <p:nvPicPr>
          <p:cNvPr id="10" name="Picture 9" descr="travel_dna_correlation_heatmap.png"/>
          <p:cNvPicPr>
            <a:picLocks noChangeAspect="1"/>
          </p:cNvPicPr>
          <p:nvPr/>
        </p:nvPicPr>
        <p:blipFill>
          <a:blip r:embed="rId2"/>
          <a:stretch>
            <a:fillRect/>
          </a:stretch>
        </p:blipFill>
        <p:spPr>
          <a:xfrm>
            <a:off x="6217920" y="2011680"/>
            <a:ext cx="5029200" cy="37719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ML Problem Formulation &amp; Leakage Prevention</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Supervised Binary Classification</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 Formulation: Predict whether an alternative is selected:</a:t>
            </a:r>
            <a:br/>
            <a:r>
              <a:t>  y_ni = chosen_ni ∈ {0, 1}</a:t>
            </a:r>
            <a:br/>
            <a:br/>
            <a:r>
              <a:t>• Grouped Partitioning (Traveller-Level Split):</a:t>
            </a:r>
            <a:br/>
            <a:r>
              <a:t>  - TRAIN (70%):      3,500 Travellers (97,163 rows)</a:t>
            </a:r>
            <a:br/>
            <a:r>
              <a:t>  - VALIDATION (15%):   750 Travellers (20,715 rows)</a:t>
            </a:r>
            <a:br/>
            <a:r>
              <a:t>  - TEST (15%):         750 Travellers (20,725 rows)</a:t>
            </a:r>
            <a:br/>
            <a:r>
              <a:t>  - Invariant: Zero traveller overlap across splits (Seed 42).</a:t>
            </a:r>
            <a:br/>
            <a:br/>
            <a:r>
              <a:t>• Two Feature Configurations:</a:t>
            </a:r>
            <a:br/>
            <a:r>
              <a:t>  - Core (Model A — 28 features): 8 Travel DNA, 7 Candidate Scores, 8 Raw Attributes, 5 Context/Climate.</a:t>
            </a:r>
            <a:br/>
            <a:r>
              <a:t>  - Extended (Model B — 29 features): Core + persona_type.</a:t>
            </a:r>
            <a:br/>
            <a:br/>
            <a:r>
              <a:t>• Dual Preprocessing Pipelines:</a:t>
            </a:r>
            <a:br/>
            <a:r>
              <a:t>  - Linear: StandardScaler + OneHotEncoder (fitted strictly on train).</a:t>
            </a:r>
            <a:br/>
            <a:r>
              <a:t>  - Tree: Native numericals + OrdinalEncoder.</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Pre-Training Leakage Audit Matrix</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Strict Exclusion of Post-Choice Derivatives:</a:t>
            </a:r>
            <a:br/>
            <a:r>
              <a:t>• utility (latent driver) -&gt; EXCLUDED (Critical Leakage)</a:t>
            </a:r>
            <a:br/>
            <a:r>
              <a:t>• choice_probability (posterior) -&gt; EXCLUDED (Critical Leakage)</a:t>
            </a:r>
            <a:br/>
            <a:r>
              <a:t>• rank (post-utility order) -&gt; EXCLUDED (Critical Leakage)</a:t>
            </a:r>
            <a:br/>
            <a:r>
              <a:t>• session_id, traveller_id -&gt; EXCLUDED (Identifier Leakage)</a:t>
            </a:r>
            <a:br/>
            <a:br/>
            <a:r>
              <a:t>Verification of Candidate Quality Scores:</a:t>
            </a:r>
            <a:br/>
            <a:r>
              <a:t>• cost_score, time_score, reliability_score, comfort_score, transfer_score, carbon_score, departure_fit</a:t>
            </a:r>
            <a:br/>
            <a:br/>
            <a:r>
              <a:t>AUDIT CONFIRMATION:</a:t>
            </a:r>
            <a:br/>
            <a:r>
              <a:t>All candidate scores are pre-choice attributes computed from raw itinerary attributes relative to session bounds prior to utility calculation and choice simulation. They carry zero information about whether the alternative was chosen.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Algorithmic Benchmarking: Four Model Families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Model Architectures &amp; Inductive Biases</a:t>
            </a:r>
          </a:p>
        </p:txBody>
      </p:sp>
      <p:sp>
        <p:nvSpPr>
          <p:cNvPr id="7" name="TextBox 6"/>
          <p:cNvSpPr txBox="1"/>
          <p:nvPr/>
        </p:nvSpPr>
        <p:spPr>
          <a:xfrm>
            <a:off x="914400" y="2011680"/>
            <a:ext cx="4572000" cy="4023360"/>
          </a:xfrm>
          <a:prstGeom prst="rect">
            <a:avLst/>
          </a:prstGeom>
          <a:noFill/>
        </p:spPr>
        <p:txBody>
          <a:bodyPr wrap="square">
            <a:spAutoFit/>
          </a:bodyPr>
          <a:lstStyle/>
          <a:p>
            <a:pPr>
              <a:defRPr sz="1100">
                <a:solidFill>
                  <a:srgbClr val="1E293B"/>
                </a:solidFill>
              </a:defRPr>
            </a:pPr>
            <a:r>
              <a:t>1. Logistic Regression (L2 Regularized):</a:t>
            </a:r>
            <a:br/>
            <a:r>
              <a:t>   - Benchmark for linear separability.</a:t>
            </a:r>
            <a:br/>
            <a:r>
              <a:t>   - Standard scaled continuous features + One-Hot Encoding.</a:t>
            </a:r>
            <a:br/>
            <a:br/>
            <a:r>
              <a:t>2. Single Decision Tree (max_depth=10, min_leaf=20):</a:t>
            </a:r>
            <a:br/>
            <a:r>
              <a:t>   - Non-linear orthogonal splitting.</a:t>
            </a:r>
            <a:br/>
            <a:r>
              <a:t>   - Evaluates baseline tree partitioning capacity.</a:t>
            </a:r>
            <a:br/>
            <a:br/>
            <a:r>
              <a:t>3. Random Forest (100 trees, max_depth=12, min_leaf=15):</a:t>
            </a:r>
            <a:br/>
            <a:r>
              <a:t>   - Bagging ensemble to reduce tree variance.</a:t>
            </a:r>
            <a:br/>
            <a:r>
              <a:t>   - Evaluates random subspace feature selection.</a:t>
            </a:r>
            <a:br/>
            <a:br/>
            <a:r>
              <a:t>4. Histogram Gradient Boosting (max_iter=100, lr=0.1):</a:t>
            </a:r>
            <a:br/>
            <a:r>
              <a:t>   - Gradient boosted decision trees with regularized shrinkage.</a:t>
            </a:r>
            <a:br/>
            <a:r>
              <a:t>   - Native support for categorical splits and missing values.</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Train vs. Val vs. Test Metric Comparison</a:t>
            </a:r>
          </a:p>
        </p:txBody>
      </p:sp>
      <p:pic>
        <p:nvPicPr>
          <p:cNvPr id="10" name="Picture 9" descr="train_vs_val_test_comparison.png"/>
          <p:cNvPicPr>
            <a:picLocks noChangeAspect="1"/>
          </p:cNvPicPr>
          <p:nvPr/>
        </p:nvPicPr>
        <p:blipFill>
          <a:blip r:embed="rId2"/>
          <a:stretch>
            <a:fillRect/>
          </a:stretch>
        </p:blipFill>
        <p:spPr>
          <a:xfrm>
            <a:off x="6217920" y="2011680"/>
            <a:ext cx="5029200" cy="2514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Phase 4 Step 1: Baseline Findings &amp; Insights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Three Major Empirical Findings</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1. Tree Ensembles Decisively Outperform Linear Models:</a:t>
            </a:r>
            <a:br/>
            <a:r>
              <a:t>• Gradient Boosting achieved Test F1 = 0.3386 vs. 0.2300 for Logistic Regression (+47.2% relative gain).</a:t>
            </a:r>
            <a:br/>
            <a:r>
              <a:t>• Random Forest achieved highest baseline ROC-AUC = 0.6979.</a:t>
            </a:r>
            <a:br/>
            <a:r>
              <a:t>• Rationale: Discrete choice utility is bilinear (Sensitivity × Score); tree partitions naturally capture this interaction.</a:t>
            </a:r>
            <a:br/>
            <a:br/>
            <a:r>
              <a:t>2. persona_type Adds Negligible Incremental Value:</a:t>
            </a:r>
            <a:br/>
            <a:r>
              <a:t>• Extended Model B showed ΔROC-AUC &lt;= 0.0005 across all algorithms.</a:t>
            </a:r>
            <a:br/>
            <a:r>
              <a:t>• Feature importance of persona_type was only 0.81%.</a:t>
            </a:r>
            <a:br/>
            <a:r>
              <a:t>• Rationale: Continuous Travel DNA already provides complete psychometric coordinates; persona is redundant.</a:t>
            </a:r>
            <a:br/>
            <a:br/>
            <a:r>
              <a:t>3. Candidate Scores Out-Predict Raw Attributes by 2.3x:</a:t>
            </a:r>
            <a:br/>
            <a:r>
              <a:t>• cost_score (15.4%) vs. raw_cost (7.9%).</a:t>
            </a:r>
            <a:br/>
            <a:r>
              <a:t>• Choice depends on relative superiority within session.</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Baseline Model Performance Comparison</a:t>
            </a:r>
          </a:p>
        </p:txBody>
      </p:sp>
      <p:pic>
        <p:nvPicPr>
          <p:cNvPr id="10" name="Picture 9" descr="model_comparison_plot.png"/>
          <p:cNvPicPr>
            <a:picLocks noChangeAspect="1"/>
          </p:cNvPicPr>
          <p:nvPr/>
        </p:nvPicPr>
        <p:blipFill>
          <a:blip r:embed="rId2"/>
          <a:stretch>
            <a:fillRect/>
          </a:stretch>
        </p:blipFill>
        <p:spPr>
          <a:xfrm>
            <a:off x="6217920" y="2011680"/>
            <a:ext cx="5029200" cy="18859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Threshold Optimization &amp; Final Champion Selection</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Champion: Gradient Boosting Core @ τ* = 0.30</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Validation-Only Threshold Selection:</a:t>
            </a:r>
            <a:br/>
            <a:r>
              <a:t>• Evaluated τ ∈ [0.20, 0.60] strictly on validation data.</a:t>
            </a:r>
            <a:br/>
            <a:r>
              <a:t>• Peak Validation F1 = 0.5283 @ τ* = 0.30 (tie-breaker saved 1,578 FP over 0.25).</a:t>
            </a:r>
            <a:br/>
            <a:br/>
            <a:r>
              <a:t>Final Test Performance (Applied Once to Test Set):</a:t>
            </a:r>
            <a:br/>
            <a:r>
              <a:t>• Test F1 Score:   0.5116 (Surged from 0.3366, +52.0%)</a:t>
            </a:r>
            <a:br/>
            <a:r>
              <a:t>• Test Recall:     62.65% (Surged from 23.82%, +38.8% pts)</a:t>
            </a:r>
            <a:br/>
            <a:r>
              <a:t>• Test Precision:  43.23% (Shift from 57.37%)</a:t>
            </a:r>
            <a:br/>
            <a:r>
              <a:t>• Test ROC-AUC:    0.6976 (Invariant)</a:t>
            </a:r>
            <a:br/>
            <a:r>
              <a:t>• Test Accuracy:   65.37% (Shift from 72.82%)</a:t>
            </a:r>
            <a:br/>
            <a:br/>
            <a:r>
              <a:t>Confusion Matrix Shift (Test Set N = 20,725):</a:t>
            </a:r>
            <a:br/>
            <a:r>
              <a:t>• True Positives:  1,429 -&gt; 3,759 (+2,330 / +163.0% gain)</a:t>
            </a:r>
            <a:br/>
            <a:r>
              <a:t>• False Negatives: 4,571 -&gt; 2,241 (-2,330 / -50.97% drop)</a:t>
            </a:r>
            <a:br/>
            <a:r>
              <a:t>• False Positives: 1,062 -&gt; 4,936</a:t>
            </a:r>
            <a:br/>
            <a:r>
              <a:t>• True Negatives: 13,663 -&gt; 9,789</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Confusion Matrix Shift: Default (0.50) vs. Tuned (0.30)</a:t>
            </a:r>
          </a:p>
        </p:txBody>
      </p:sp>
      <p:pic>
        <p:nvPicPr>
          <p:cNvPr id="10" name="Picture 9" descr="final_confusion_matrix.png"/>
          <p:cNvPicPr>
            <a:picLocks noChangeAspect="1"/>
          </p:cNvPicPr>
          <p:nvPr/>
        </p:nvPicPr>
        <p:blipFill>
          <a:blip r:embed="rId2"/>
          <a:stretch>
            <a:fillRect/>
          </a:stretch>
        </p:blipFill>
        <p:spPr>
          <a:xfrm>
            <a:off x="6217920" y="2011680"/>
            <a:ext cx="5029200" cy="17961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Academic Boundaries, Limitations &amp; Future Roadmap</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Explicit Research Limitations</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1. Synthetic Behavioral Ground Truth:</a:t>
            </a:r>
            <a:br/>
            <a:r>
              <a:t>   Labels (chosen) reflect simulated Multinomial Logit choices, NOT real-world booking conversions.</a:t>
            </a:r>
            <a:br/>
            <a:br/>
            <a:r>
              <a:t>2. Simulation Proxies:</a:t>
            </a:r>
            <a:br/>
            <a:r>
              <a:t>   Flight punctuality and cabin comfort are calibrated proxy baselines rather than live airline operations feeds.</a:t>
            </a:r>
            <a:br/>
            <a:br/>
            <a:r>
              <a:t>3. Derived Tariff Schedules:</a:t>
            </a:r>
            <a:br/>
            <a:r>
              <a:t>   Rail fares are derived from IRCA distance formulas rather than observed transaction receipts.</a:t>
            </a:r>
            <a:br/>
            <a:br/>
            <a:r>
              <a:t>4. Pointwise Independence Assumption:</a:t>
            </a:r>
            <a:br/>
            <a:r>
              <a:t>   The binary classifier predicts alternatives independently as Bernoulli trials; it does not enforce the constraint that exactly one option is chosen per session (Σ Y_nj = 1).</a:t>
            </a:r>
            <a:br/>
            <a:br/>
            <a:r>
              <a:t>5. Geographic Coverage:</a:t>
            </a:r>
            <a:br/>
            <a:r>
              <a:t>   Focuses on 6 major Indian metropolitan corridors.</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Engineering &amp; Research Roadmap</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Phase 6 Production Extensions:</a:t>
            </a:r>
            <a:br/>
            <a:br/>
            <a:r>
              <a:t>• Session-Aware Learning-to-Rank (LTR):</a:t>
            </a:r>
            <a:br/>
            <a:r>
              <a:t>  Transition to LightGBM Ranker / LambdaMART optimizing listwise NDCG@1 and MRR conditioned on session_id.</a:t>
            </a:r>
            <a:br/>
            <a:br/>
            <a:r>
              <a:t>• Econometric Mixed Logit Modeling:</a:t>
            </a:r>
            <a:br/>
            <a:r>
              <a:t>  Estimate unobserved preference heterogeneity and cross-elasticities between rail and air modes.</a:t>
            </a:r>
            <a:br/>
            <a:br/>
            <a:r>
              <a:t>• Live Transit API Integrations:</a:t>
            </a:r>
            <a:br/>
            <a:r>
              <a:t>  Ingest live airline GDS fares and IRCTC dynamic pricing / waitlist confirmation probability feeds.</a:t>
            </a:r>
            <a:br/>
            <a:br/>
            <a:r>
              <a:t>• Online Preference Learning:</a:t>
            </a:r>
            <a:br/>
            <a:r>
              <a:t>  Update Travel DNA sliders dynamically via contextual multi-armed bandits (LinUCB) from user clickstream telemetry.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097280"/>
          </a:xfrm>
          <a:prstGeom prst="rect">
            <a:avLst/>
          </a:prstGeom>
          <a:noFill/>
        </p:spPr>
        <p:txBody>
          <a:bodyPr wrap="square">
            <a:spAutoFit/>
          </a:bodyPr>
          <a:lstStyle/>
          <a:p>
            <a:pPr>
              <a:defRPr sz="3200" b="1">
                <a:solidFill>
                  <a:srgbClr val="FFFFFF"/>
                </a:solidFill>
              </a:defRPr>
            </a:pPr>
            <a:r>
              <a:t>Conclusions &amp; Project Sign-Off</a:t>
            </a:r>
          </a:p>
        </p:txBody>
      </p:sp>
      <p:sp>
        <p:nvSpPr>
          <p:cNvPr id="4" name="Rounded Rectangle 3"/>
          <p:cNvSpPr/>
          <p:nvPr/>
        </p:nvSpPr>
        <p:spPr>
          <a:xfrm>
            <a:off x="914400" y="2011680"/>
            <a:ext cx="10332720" cy="4114800"/>
          </a:xfrm>
          <a:prstGeom prst="roundRect">
            <a:avLst/>
          </a:prstGeom>
          <a:solidFill>
            <a:srgbClr val="14264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94560"/>
            <a:ext cx="9784080" cy="3657600"/>
          </a:xfrm>
          <a:prstGeom prst="rect">
            <a:avLst/>
          </a:prstGeom>
          <a:noFill/>
        </p:spPr>
        <p:txBody>
          <a:bodyPr wrap="square">
            <a:spAutoFit/>
          </a:bodyPr>
          <a:lstStyle/>
          <a:p>
            <a:pPr>
              <a:defRPr b="1" sz="1400">
                <a:solidFill>
                  <a:srgbClr val="D97706"/>
                </a:solidFill>
              </a:defRPr>
            </a:pPr>
            <a:r>
              <a:t>1. Feasibility Demonstrated:</a:t>
            </a:r>
          </a:p>
          <a:p>
            <a:pPr>
              <a:defRPr sz="1200">
                <a:solidFill>
                  <a:srgbClr val="FFFFFF"/>
                </a:solidFill>
              </a:defRPr>
            </a:pPr>
            <a:r>
              <a:t>Yātrā AI successfully proved the feasibility of recovering multi-attribute traveller discrete choice preferences across Indian multi-modal transit networks using grounded public data and calibrated simulation.</a:t>
            </a:r>
          </a:p>
          <a:p>
            <a:br/>
            <a:pPr>
              <a:defRPr b="1" sz="1400">
                <a:solidFill>
                  <a:srgbClr val="D97706"/>
                </a:solidFill>
              </a:defRPr>
            </a:pPr>
            <a:r>
              <a:t>2. Superiority of Gradient Boosting &amp; Relative Scoring:</a:t>
            </a:r>
          </a:p>
          <a:p>
            <a:pPr>
              <a:defRPr sz="1200">
                <a:solidFill>
                  <a:srgbClr val="FFFFFF"/>
                </a:solidFill>
              </a:defRPr>
            </a:pPr>
            <a:r>
              <a:t>Tree-based gradient boosting decisively outperforms linear classification by capturing bilinear utility interactions. Candidate scores relative to session bounds represent 52% of predictive importance, dominating raw attributes.</a:t>
            </a:r>
          </a:p>
          <a:p>
            <a:br/>
            <a:pPr>
              <a:defRPr b="1" sz="1400">
                <a:solidFill>
                  <a:srgbClr val="D97706"/>
                </a:solidFill>
              </a:defRPr>
            </a:pPr>
            <a:r>
              <a:t>3. Optimal Operational Champion:</a:t>
            </a:r>
          </a:p>
          <a:p>
            <a:pPr>
              <a:defRPr sz="1200">
                <a:solidFill>
                  <a:srgbClr val="FFFFFF"/>
                </a:solidFill>
              </a:defRPr>
            </a:pPr>
            <a:r>
              <a:t>Gradient Boosting Core (GB_core) at τ* = 0.30 achieves 0.6976 ROC-AUC and 0.5116 F1, capturing 62.65% of preferred journeys while preserving parsimony and zero persona-coupling.</a:t>
            </a:r>
          </a:p>
          <a:p>
            <a:br/>
            <a:pPr>
              <a:defRPr b="1" sz="1200">
                <a:solidFill>
                  <a:srgbClr val="94A3B8"/>
                </a:solidFill>
              </a:defRPr>
            </a:pPr>
            <a:r>
              <a:t>Closing Scientific Boundary:</a:t>
            </a:r>
          </a:p>
          <a:p>
            <a:pPr>
              <a:defRPr i="1" sz="1100">
                <a:solidFill>
                  <a:srgbClr val="CBD5E1"/>
                </a:solidFill>
              </a:defRPr>
            </a:pPr>
            <a:r>
              <a:t>"The results demonstrate the feasibility of recovering simulated traveller preference patterns from grounded itinerary and Travel DNA features; they should not be interpreted as empirical estimates of real-world traveller conversion behaviour."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